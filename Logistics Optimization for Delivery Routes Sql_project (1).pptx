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5D3408-16F0-4F42-993F-01962CC9CD4F}" v="5" dt="2026-04-01T10:29:29.7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ik Lad" userId="99691dd19cc09b62" providerId="LiveId" clId="{258E50DD-84AB-4BB6-B606-2BEB62E93F09}"/>
    <pc:docChg chg="addSld modSld">
      <pc:chgData name="Pratik Lad" userId="99691dd19cc09b62" providerId="LiveId" clId="{258E50DD-84AB-4BB6-B606-2BEB62E93F09}" dt="2026-04-01T10:30:07.249" v="85" actId="207"/>
      <pc:docMkLst>
        <pc:docMk/>
      </pc:docMkLst>
      <pc:sldChg chg="modSp mod">
        <pc:chgData name="Pratik Lad" userId="99691dd19cc09b62" providerId="LiveId" clId="{258E50DD-84AB-4BB6-B606-2BEB62E93F09}" dt="2026-03-31T17:13:35.266" v="0" actId="20577"/>
        <pc:sldMkLst>
          <pc:docMk/>
          <pc:sldMk cId="3473601611" sldId="256"/>
        </pc:sldMkLst>
        <pc:spChg chg="mod">
          <ac:chgData name="Pratik Lad" userId="99691dd19cc09b62" providerId="LiveId" clId="{258E50DD-84AB-4BB6-B606-2BEB62E93F09}" dt="2026-03-31T17:13:35.266" v="0" actId="20577"/>
          <ac:spMkLst>
            <pc:docMk/>
            <pc:sldMk cId="3473601611" sldId="256"/>
            <ac:spMk id="3" creationId="{E74848E3-05B2-1EBC-BFFE-392B78DE58F4}"/>
          </ac:spMkLst>
        </pc:spChg>
      </pc:sldChg>
      <pc:sldChg chg="addSp modSp new mod setBg">
        <pc:chgData name="Pratik Lad" userId="99691dd19cc09b62" providerId="LiveId" clId="{258E50DD-84AB-4BB6-B606-2BEB62E93F09}" dt="2026-04-01T10:30:07.249" v="85" actId="207"/>
        <pc:sldMkLst>
          <pc:docMk/>
          <pc:sldMk cId="2002189945" sldId="268"/>
        </pc:sldMkLst>
        <pc:spChg chg="mod">
          <ac:chgData name="Pratik Lad" userId="99691dd19cc09b62" providerId="LiveId" clId="{258E50DD-84AB-4BB6-B606-2BEB62E93F09}" dt="2026-04-01T10:29:42.205" v="83" actId="207"/>
          <ac:spMkLst>
            <pc:docMk/>
            <pc:sldMk cId="2002189945" sldId="268"/>
            <ac:spMk id="2" creationId="{623FBD92-B7DF-B1BF-8CD2-FAF52A96DB08}"/>
          </ac:spMkLst>
        </pc:spChg>
        <pc:spChg chg="add mod">
          <ac:chgData name="Pratik Lad" userId="99691dd19cc09b62" providerId="LiveId" clId="{258E50DD-84AB-4BB6-B606-2BEB62E93F09}" dt="2026-04-01T10:30:07.249" v="85" actId="207"/>
          <ac:spMkLst>
            <pc:docMk/>
            <pc:sldMk cId="2002189945" sldId="268"/>
            <ac:spMk id="3" creationId="{557EEE2B-732C-B756-4405-09E3BA676BB9}"/>
          </ac:spMkLst>
        </pc:spChg>
        <pc:spChg chg="add mod">
          <ac:chgData name="Pratik Lad" userId="99691dd19cc09b62" providerId="LiveId" clId="{258E50DD-84AB-4BB6-B606-2BEB62E93F09}" dt="2026-04-01T10:29:53.052" v="84" actId="207"/>
          <ac:spMkLst>
            <pc:docMk/>
            <pc:sldMk cId="2002189945" sldId="268"/>
            <ac:spMk id="4" creationId="{9836295D-2868-BB47-4AA9-59844E17CE0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F8C3A-64B3-07AC-DE30-A712C955AB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33856A-2105-9454-CDFF-1A24812AC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36413-C320-2CD6-13E8-C8A88CBF3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01D85-53DF-319B-C36A-618947B2E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D2240-3E9F-3C7A-8AE4-964BCF51B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21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5161-C71A-BCDB-193E-B9D2E98DA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C68A7-BC38-25DA-70DF-77D20B029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EE646-2E99-FD7B-57B3-D7F32757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017E8-1946-2F4F-B08A-6134D3203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7CA93-BFB3-BA33-FA69-65A0CB7BB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46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0B12-B855-C233-71C2-8C25B92AD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26F9F2-188D-F705-A84A-F9D110D3B0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2BB7B3-06A8-7CD5-458E-238DC16A5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D0CEA-3187-C883-6177-A42CCBDBA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566C9-6D6A-432A-4125-644407FF3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4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E902E-4D9B-CCD0-BA17-E92C83B1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956965-4544-4912-6776-5B3049932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DD9F92-EDC9-2360-C582-61F09924AE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EB3F87-9058-51EA-034F-8488F0863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F23D6-6011-9C55-0970-285ADE878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C60D2-BF2E-29B3-03EB-42FE1DE35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00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3E718-81BA-39F9-1375-E6F1F5E20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09428-9CBF-63CD-70EC-9D40986DF4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F8E41-EB02-26E7-62E8-543CE74A8B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B3E931-FBD6-0F2C-996A-34CCE3E0EF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FFCBBC-E0C3-D247-C191-8E8B478280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C18DD8-1E72-5302-D1FA-DB043BE01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E9F784-4F56-79DB-8BEB-E16759E6C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F45FF-E26B-71E2-C207-A4B9349FE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619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D223E-E1A2-A868-A64E-CD505C7EB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9A2033-13F1-EFFA-E8D3-9BF893042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57A342-CE20-F817-2672-0A8AD3C5D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D8BCB-82B9-6E08-C9B5-98E9B849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711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B0A016-5F1E-453D-FE1A-853AF08DD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1F32A6-FF3B-FD1B-19E7-27A22510C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E2FC6C-BF96-2EBA-0718-4E8F4FBE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931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FEFBB-1862-C5D9-0F67-3E0C87E34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FF114-B287-5C15-00F2-37F758D37D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18471C-7E09-5F75-60E1-9EFCF6602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EE1160-668D-BD4D-6C31-9F0CE2A9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34809-B5E6-8F7D-9581-74AE93779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EEA8B-020B-E2CD-DDB4-44560413D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427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DE76-91A7-04BA-94A8-CC05239BA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D5B1F-7A1D-51CC-829D-8B62F2C888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FF2788-7820-AFE3-1282-51625EB6CD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65B2C-0EBE-287A-35B2-40BEF5EA4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79EA0D-F9AE-451F-F56B-A5BA2A3CD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75463-113B-B526-C584-067CF9061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775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6E01-D145-7D4A-3D32-527916F39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FAE4E7-AEF2-F559-91CA-6960E54E91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A0E5C-F853-8695-D601-04A245697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90818-D4D5-E75B-8883-309C9420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3E74D-561C-B44D-73D7-3E42CFB04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19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7C73204-E7E1-253D-E386-18B8119F0D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58405-3D82-7DAC-C9CC-665E3AC120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E841B-2044-836F-48A3-4158B82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4B8D4-40F4-2C3B-44FC-C23CF1C08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60B7A5-31CF-0B20-A712-F3F39BEB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631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DB80E7-18B8-1392-E231-BC17C684A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943CBB-AACB-677C-3D4A-D2E0708B8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1F3CA-A268-A97F-18F4-FFBEDC56ED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7D3E28-C1BF-45D1-853E-80FAC0006C09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507A3-2FD8-6E25-B51A-44B0D5FFA7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BCD75B-8A6F-9394-0971-1D3932E4F9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9CC89-3351-4082-8F7E-27F1F2EC30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12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God0TMB_ol6FVlljtoHs-BJnU4Aeg-9Z/view?usp=sharing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AD5F-C9DE-2DFE-3EAA-F1831563F8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Logistics Optimization for Delivery Routes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4848E3-05B2-1EBC-BFFE-392B78DE58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600" dirty="0">
                <a:solidFill>
                  <a:schemeClr val="bg1"/>
                </a:solidFill>
                <a:latin typeface="Algerian" panose="04020705040A02060702" pitchFamily="82" charset="0"/>
              </a:rPr>
              <a:t>SQL data Analysis project</a:t>
            </a:r>
          </a:p>
          <a:p>
            <a:r>
              <a:rPr lang="en-US" sz="2000" dirty="0">
                <a:solidFill>
                  <a:schemeClr val="bg1"/>
                </a:solidFill>
                <a:latin typeface="Algerian" panose="04020705040A02060702" pitchFamily="82" charset="0"/>
              </a:rPr>
              <a:t>-submitted by-</a:t>
            </a:r>
          </a:p>
          <a:p>
            <a:r>
              <a:rPr lang="en-US" sz="2000" dirty="0" err="1">
                <a:solidFill>
                  <a:schemeClr val="bg1"/>
                </a:solidFill>
                <a:latin typeface="Algerian" panose="04020705040A02060702" pitchFamily="82" charset="0"/>
              </a:rPr>
              <a:t>Name:ritesh</a:t>
            </a:r>
            <a:r>
              <a:rPr lang="en-US" sz="2000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lgerian" panose="04020705040A02060702" pitchFamily="82" charset="0"/>
              </a:rPr>
              <a:t>suresh</a:t>
            </a:r>
            <a:r>
              <a:rPr lang="en-US" sz="2000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lgerian" panose="04020705040A02060702" pitchFamily="82" charset="0"/>
              </a:rPr>
              <a:t>redekar</a:t>
            </a:r>
            <a:r>
              <a:rPr lang="en-US" sz="2000" dirty="0">
                <a:solidFill>
                  <a:schemeClr val="bg1"/>
                </a:solidFill>
                <a:latin typeface="Algerian" panose="04020705040A02060702" pitchFamily="82" charset="0"/>
              </a:rPr>
              <a:t>  </a:t>
            </a:r>
          </a:p>
          <a:p>
            <a:r>
              <a:rPr lang="en-US" sz="2000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Algerian" panose="04020705040A02060702" pitchFamily="82" charset="0"/>
              </a:rPr>
              <a:t>course:data</a:t>
            </a:r>
            <a:r>
              <a:rPr lang="en-US" sz="2000" dirty="0">
                <a:solidFill>
                  <a:schemeClr val="bg1"/>
                </a:solidFill>
                <a:latin typeface="Algerian" panose="04020705040A02060702" pitchFamily="82" charset="0"/>
              </a:rPr>
              <a:t> science </a:t>
            </a:r>
            <a:r>
              <a:rPr lang="en-US" sz="2000" dirty="0" err="1">
                <a:solidFill>
                  <a:schemeClr val="bg1"/>
                </a:solidFill>
                <a:latin typeface="Algerian" panose="04020705040A02060702" pitchFamily="82" charset="0"/>
              </a:rPr>
              <a:t>batch:january</a:t>
            </a:r>
            <a:r>
              <a:rPr lang="en-US" sz="2000" dirty="0">
                <a:solidFill>
                  <a:schemeClr val="bg1"/>
                </a:solidFill>
                <a:latin typeface="Algerian" panose="04020705040A02060702" pitchFamily="82" charset="0"/>
              </a:rPr>
              <a:t> 1</a:t>
            </a:r>
            <a:r>
              <a:rPr lang="en-US" sz="2000" baseline="30000" dirty="0">
                <a:solidFill>
                  <a:schemeClr val="bg1"/>
                </a:solidFill>
                <a:latin typeface="Algerian" panose="04020705040A02060702" pitchFamily="82" charset="0"/>
              </a:rPr>
              <a:t>st</a:t>
            </a:r>
            <a:r>
              <a:rPr lang="en-US" sz="2000" dirty="0">
                <a:solidFill>
                  <a:schemeClr val="bg1"/>
                </a:solidFill>
                <a:latin typeface="Algerian" panose="04020705040A02060702" pitchFamily="82" charset="0"/>
              </a:rPr>
              <a:t> batch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60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8FBA4-0DFD-2199-B481-8FC70B5E1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Project objective: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999F9-C8A6-457C-D662-AE88E9ED8C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9586"/>
            <a:ext cx="10515600" cy="2795536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Analyze logistics data using SQL</a:t>
            </a:r>
          </a:p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Identify delivery delays and inefficiencies</a:t>
            </a:r>
          </a:p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Improve route and warehouse performance</a:t>
            </a:r>
          </a:p>
          <a:p>
            <a:r>
              <a:rPr lang="en-US" sz="3200" dirty="0">
                <a:solidFill>
                  <a:schemeClr val="bg1"/>
                </a:solidFill>
                <a:latin typeface="Algerian" panose="04020705040A02060702" pitchFamily="82" charset="0"/>
              </a:rPr>
              <a:t> Generate actionable insights</a:t>
            </a:r>
          </a:p>
        </p:txBody>
      </p:sp>
    </p:spTree>
    <p:extLst>
      <p:ext uri="{BB962C8B-B14F-4D97-AF65-F5344CB8AC3E}">
        <p14:creationId xmlns:p14="http://schemas.microsoft.com/office/powerpoint/2010/main" val="3712511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33A25-2E7D-C971-46EB-ECB2E0867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Dataset overview: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CE2199-DB7C-D826-7BBE-3288BEDAE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Tables Used: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 orders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 routes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 warehouses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lgerian" panose="04020705040A02060702" pitchFamily="82" charset="0"/>
              </a:rPr>
              <a:t>deliveryagents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 </a:t>
            </a:r>
            <a:r>
              <a:rPr lang="en-US" dirty="0" err="1">
                <a:solidFill>
                  <a:schemeClr val="bg1"/>
                </a:solidFill>
                <a:latin typeface="Algerian" panose="04020705040A02060702" pitchFamily="82" charset="0"/>
              </a:rPr>
              <a:t>shipmenttracking</a:t>
            </a:r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Tools: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 MySQL Workbench</a:t>
            </a:r>
          </a:p>
        </p:txBody>
      </p:sp>
    </p:spTree>
    <p:extLst>
      <p:ext uri="{BB962C8B-B14F-4D97-AF65-F5344CB8AC3E}">
        <p14:creationId xmlns:p14="http://schemas.microsoft.com/office/powerpoint/2010/main" val="1628828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7C9A4-5AD3-2CF9-368D-ABCE9FF37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Task1:Data cleaning &amp; preparation: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E4B8FE7-7553-A15D-E752-D55175197A6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97625"/>
            <a:ext cx="4343400" cy="1927123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1818C141-6CD5-0A64-09F1-CDE57D7690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80617"/>
            <a:ext cx="4343400" cy="22122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2046F2-22DE-ABDE-6513-91E50A1224B8}"/>
              </a:ext>
            </a:extLst>
          </p:cNvPr>
          <p:cNvSpPr txBox="1"/>
          <p:nvPr/>
        </p:nvSpPr>
        <p:spPr>
          <a:xfrm>
            <a:off x="6096000" y="1613118"/>
            <a:ext cx="6096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• Checked duplicate </a:t>
            </a:r>
            <a:r>
              <a:rPr lang="en-US" sz="2800" dirty="0" err="1">
                <a:solidFill>
                  <a:schemeClr val="bg1"/>
                </a:solidFill>
                <a:latin typeface="Algerian" panose="04020705040A02060702" pitchFamily="82" charset="0"/>
              </a:rPr>
              <a:t>Order_ID</a:t>
            </a:r>
            <a:endParaRPr lang="en-US" sz="28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• Verified NULL values</a:t>
            </a:r>
          </a:p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• Converted date formats</a:t>
            </a:r>
          </a:p>
          <a:p>
            <a:r>
              <a:rPr lang="en-US" sz="2800" dirty="0">
                <a:solidFill>
                  <a:schemeClr val="bg1"/>
                </a:solidFill>
                <a:latin typeface="Algerian" panose="04020705040A02060702" pitchFamily="82" charset="0"/>
              </a:rPr>
              <a:t>• Validated date consistency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78CC0D-4E03-E9BE-4FBD-96853252BF52}"/>
              </a:ext>
            </a:extLst>
          </p:cNvPr>
          <p:cNvSpPr txBox="1"/>
          <p:nvPr/>
        </p:nvSpPr>
        <p:spPr>
          <a:xfrm>
            <a:off x="838200" y="1521411"/>
            <a:ext cx="4343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lgerian" panose="04020705040A02060702" pitchFamily="82" charset="0"/>
              </a:rPr>
              <a:t>1.Remove duplicates: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E0E032-9B44-7230-795E-FB137D58AB9A}"/>
              </a:ext>
            </a:extLst>
          </p:cNvPr>
          <p:cNvSpPr txBox="1"/>
          <p:nvPr/>
        </p:nvSpPr>
        <p:spPr>
          <a:xfrm>
            <a:off x="838200" y="3883405"/>
            <a:ext cx="4343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lgerian" panose="04020705040A02060702" pitchFamily="82" charset="0"/>
              </a:rPr>
              <a:t>2.Replace Null: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1BE9B-9CDC-ED7B-9F9F-8F4B6B71DFE1}"/>
              </a:ext>
            </a:extLst>
          </p:cNvPr>
          <p:cNvSpPr txBox="1"/>
          <p:nvPr/>
        </p:nvSpPr>
        <p:spPr>
          <a:xfrm>
            <a:off x="6221361" y="3930084"/>
            <a:ext cx="51324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Algerian" panose="04020705040A02060702" pitchFamily="82" charset="0"/>
              </a:rPr>
              <a:t>Conclusion:Data</a:t>
            </a:r>
            <a:r>
              <a:rPr lang="en-US" sz="2400" dirty="0">
                <a:solidFill>
                  <a:schemeClr val="bg1"/>
                </a:solidFill>
                <a:latin typeface="Algerian" panose="04020705040A02060702" pitchFamily="82" charset="0"/>
              </a:rPr>
              <a:t> is clean and ready for Analysis.</a:t>
            </a:r>
          </a:p>
        </p:txBody>
      </p:sp>
    </p:spTree>
    <p:extLst>
      <p:ext uri="{BB962C8B-B14F-4D97-AF65-F5344CB8AC3E}">
        <p14:creationId xmlns:p14="http://schemas.microsoft.com/office/powerpoint/2010/main" val="3294832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FD138-F795-37AA-A8BE-2E8CF37E1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88372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Task2:Delivery Delay Analysis: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396C29-4B91-766D-D7C0-E29971D965B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21892"/>
            <a:ext cx="5181600" cy="3758804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7C53E7-AC9D-D217-BDDD-328207F5D2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084438"/>
            <a:ext cx="5181600" cy="424753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Delivery delay calculated using DATEDIFF function</a:t>
            </a:r>
          </a:p>
          <a:p>
            <a:pPr marL="0" indent="0">
              <a:buNone/>
            </a:pPr>
            <a:r>
              <a:rPr lang="en-US" sz="1400" dirty="0" err="1">
                <a:solidFill>
                  <a:schemeClr val="bg1"/>
                </a:solidFill>
                <a:latin typeface="Algerian" panose="04020705040A02060702" pitchFamily="82" charset="0"/>
              </a:rPr>
              <a:t>Delay_Days</a:t>
            </a: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 = </a:t>
            </a:r>
            <a:r>
              <a:rPr lang="en-US" sz="1400" dirty="0" err="1">
                <a:solidFill>
                  <a:schemeClr val="bg1"/>
                </a:solidFill>
                <a:latin typeface="Algerian" panose="04020705040A02060702" pitchFamily="82" charset="0"/>
              </a:rPr>
              <a:t>Actual_Delivery_Date</a:t>
            </a: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 - </a:t>
            </a:r>
            <a:r>
              <a:rPr lang="en-US" sz="1400" dirty="0" err="1">
                <a:solidFill>
                  <a:schemeClr val="bg1"/>
                </a:solidFill>
                <a:latin typeface="Algerian" panose="04020705040A02060702" pitchFamily="82" charset="0"/>
              </a:rPr>
              <a:t>Expected_Delivery_Date</a:t>
            </a:r>
            <a:endParaRPr lang="en-US" sz="14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lgerian" panose="04020705040A02060702" pitchFamily="82" charset="0"/>
              </a:rPr>
              <a:t>Interpretation: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Positive → Late delivery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Zero → On-time delivery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Negative → Early delivery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lgerian" panose="04020705040A02060702" pitchFamily="82" charset="0"/>
              </a:rPr>
              <a:t>Key Steps: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Calculated delay for each order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Identified top 10 delayed routes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Analyzed delivery performance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Algerian" panose="04020705040A02060702" pitchFamily="82" charset="0"/>
              </a:rPr>
              <a:t>Insight: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Algerian" panose="04020705040A02060702" pitchFamily="82" charset="0"/>
              </a:rPr>
              <a:t>Certain routes show higher delays indicating inefficiencies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766A39-FEA6-9AD1-2EB5-CA81167BCB0E}"/>
              </a:ext>
            </a:extLst>
          </p:cNvPr>
          <p:cNvSpPr txBox="1"/>
          <p:nvPr/>
        </p:nvSpPr>
        <p:spPr>
          <a:xfrm>
            <a:off x="838200" y="1634302"/>
            <a:ext cx="50955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lgerian" panose="04020705040A02060702" pitchFamily="82" charset="0"/>
              </a:rPr>
              <a:t>Delivery Delay Calculation:</a:t>
            </a:r>
          </a:p>
        </p:txBody>
      </p:sp>
    </p:spTree>
    <p:extLst>
      <p:ext uri="{BB962C8B-B14F-4D97-AF65-F5344CB8AC3E}">
        <p14:creationId xmlns:p14="http://schemas.microsoft.com/office/powerpoint/2010/main" val="2410446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AD8E50-EC61-2B2E-8044-267B6AD5A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134" y="1081548"/>
            <a:ext cx="5302995" cy="49357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2F9E777-B2FF-6C0C-3B29-68DC49277651}"/>
              </a:ext>
            </a:extLst>
          </p:cNvPr>
          <p:cNvSpPr txBox="1"/>
          <p:nvPr/>
        </p:nvSpPr>
        <p:spPr>
          <a:xfrm>
            <a:off x="6312310" y="1081548"/>
            <a:ext cx="516855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Analysis: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Delivery delay is calculated using the difference between Actual and Expected delivery dates.</a:t>
            </a:r>
          </a:p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Key Steps: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•Calculated delay using DATEDIFF  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•Identified top 10 delayed routes  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•Analyzed delivery performance across routes   </a:t>
            </a:r>
          </a:p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Insight: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Certain routes show consistently higher delays, indicating inefficiencies in delivery operations.</a:t>
            </a:r>
          </a:p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Impact: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This analysis helps identify problematic routes and improve delivery planning.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BBD9EAB-8F4A-B953-26D3-EAB693C0E3A0}"/>
              </a:ext>
            </a:extLst>
          </p:cNvPr>
          <p:cNvSpPr txBox="1"/>
          <p:nvPr/>
        </p:nvSpPr>
        <p:spPr>
          <a:xfrm>
            <a:off x="711134" y="580103"/>
            <a:ext cx="53029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Algerian" panose="04020705040A02060702" pitchFamily="82" charset="0"/>
              </a:rPr>
              <a:t>Top 10 Delayed Routes:</a:t>
            </a:r>
          </a:p>
        </p:txBody>
      </p:sp>
    </p:spTree>
    <p:extLst>
      <p:ext uri="{BB962C8B-B14F-4D97-AF65-F5344CB8AC3E}">
        <p14:creationId xmlns:p14="http://schemas.microsoft.com/office/powerpoint/2010/main" val="1340080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2309D-BD6F-E946-CA96-D82A15243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9217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Task 3:Route Optimization insights.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B5A0F17-0A69-6842-ECAE-CBB652D1FBF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44663"/>
            <a:ext cx="5181600" cy="4351338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02DBBB-FCE2-30D3-9172-2C9C03E12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7226" y="1744663"/>
            <a:ext cx="5181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Algerian" panose="04020705040A02060702" pitchFamily="82" charset="0"/>
              </a:rPr>
              <a:t>Key Findings &amp; Insights:</a:t>
            </a:r>
            <a:endParaRPr lang="en-US" b="1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  <a:latin typeface="Algerian" panose="04020705040A02060702" pitchFamily="82" charset="0"/>
              </a:rPr>
              <a:t>Calculated average delivery time, traffic delay, and efficiency ratio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  <a:latin typeface="Algerian" panose="04020705040A02060702" pitchFamily="82" charset="0"/>
              </a:rPr>
              <a:t>Identified 3 routes with worst efficiency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  <a:latin typeface="Algerian" panose="04020705040A02060702" pitchFamily="82" charset="0"/>
              </a:rPr>
              <a:t>Found routes with &gt;20% delays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  <a:latin typeface="Algerian" panose="04020705040A02060702" pitchFamily="82" charset="0"/>
              </a:rPr>
              <a:t>Inefficient routes require optimization</a:t>
            </a:r>
          </a:p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  <a:latin typeface="Algerian" panose="04020705040A02060702" pitchFamily="82" charset="0"/>
              </a:rPr>
              <a:t>Improved route planning can reduce delays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3606E-66BE-75D9-B825-5B902B40E862}"/>
              </a:ext>
            </a:extLst>
          </p:cNvPr>
          <p:cNvSpPr txBox="1"/>
          <p:nvPr/>
        </p:nvSpPr>
        <p:spPr>
          <a:xfrm>
            <a:off x="838200" y="1273758"/>
            <a:ext cx="518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Route performance Analysis:</a:t>
            </a:r>
          </a:p>
        </p:txBody>
      </p:sp>
    </p:spTree>
    <p:extLst>
      <p:ext uri="{BB962C8B-B14F-4D97-AF65-F5344CB8AC3E}">
        <p14:creationId xmlns:p14="http://schemas.microsoft.com/office/powerpoint/2010/main" val="1091437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46129-254D-908C-01D2-60905AFB7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684"/>
            <a:ext cx="10515600" cy="824578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Task 4:Warehouse performance.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E4144A0-E6CF-9E20-7CA8-E7C48D418F6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529" y="1649593"/>
            <a:ext cx="4264742" cy="209234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62E2CD-360F-F901-4549-1B3B86571E2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09794"/>
            <a:ext cx="4264742" cy="22830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BCDF3C8-D9F1-D2F2-E564-6E47D05C5AC9}"/>
              </a:ext>
            </a:extLst>
          </p:cNvPr>
          <p:cNvSpPr txBox="1"/>
          <p:nvPr/>
        </p:nvSpPr>
        <p:spPr>
          <a:xfrm>
            <a:off x="838200" y="1003263"/>
            <a:ext cx="45990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Warehouse performance analysis: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Top 3 warehouses: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F01679-B2F2-A923-4CAF-D2F834CB3273}"/>
              </a:ext>
            </a:extLst>
          </p:cNvPr>
          <p:cNvSpPr txBox="1"/>
          <p:nvPr/>
        </p:nvSpPr>
        <p:spPr>
          <a:xfrm>
            <a:off x="838200" y="3814856"/>
            <a:ext cx="434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Warehouses Ranking: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0F1F0-DAE1-1694-8B51-0363819AC21A}"/>
              </a:ext>
            </a:extLst>
          </p:cNvPr>
          <p:cNvSpPr txBox="1"/>
          <p:nvPr/>
        </p:nvSpPr>
        <p:spPr>
          <a:xfrm>
            <a:off x="6096000" y="1475349"/>
            <a:ext cx="543723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Key findings &amp; insights: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Identified top 3 warehouses with highest processing time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Compared total and delayed shipments for each warehouse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Detected bottleneck warehouses using global average processing time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Ranked warehouses based on on-time delivery percentage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Poor performing warehouses require process improvement</a:t>
            </a:r>
          </a:p>
        </p:txBody>
      </p:sp>
    </p:spTree>
    <p:extLst>
      <p:ext uri="{BB962C8B-B14F-4D97-AF65-F5344CB8AC3E}">
        <p14:creationId xmlns:p14="http://schemas.microsoft.com/office/powerpoint/2010/main" val="3922662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29CF6-897D-632A-E0A7-057070AC5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Algerian" panose="04020705040A02060702" pitchFamily="82" charset="0"/>
              </a:rPr>
              <a:t>Task 5:Delivery Agent Performance.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728DB14-52A5-E8B3-EA8A-8ECD1FD6DFA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214916"/>
            <a:ext cx="4589206" cy="2166219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4B5A324-F6F2-7078-4C69-CC4E4214510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9243"/>
            <a:ext cx="4578499" cy="216621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3ED2B8-646C-9E72-9648-7E4938861A26}"/>
              </a:ext>
            </a:extLst>
          </p:cNvPr>
          <p:cNvSpPr txBox="1"/>
          <p:nvPr/>
        </p:nvSpPr>
        <p:spPr>
          <a:xfrm>
            <a:off x="6548284" y="1325563"/>
            <a:ext cx="480551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Key findings and insights:</a:t>
            </a:r>
          </a:p>
          <a:p>
            <a:r>
              <a:rPr lang="en-US" sz="1700" dirty="0">
                <a:solidFill>
                  <a:schemeClr val="bg1"/>
                </a:solidFill>
                <a:latin typeface="Algerian" panose="04020705040A02060702" pitchFamily="82" charset="0"/>
              </a:rPr>
              <a:t>• Ranked agents based on on-time delivery percentage for each route  </a:t>
            </a:r>
          </a:p>
          <a:p>
            <a:endParaRPr lang="en-US" sz="17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Algerian" panose="04020705040A02060702" pitchFamily="82" charset="0"/>
              </a:rPr>
              <a:t>• Identified agents with less than 80% on-time performance  </a:t>
            </a:r>
          </a:p>
          <a:p>
            <a:endParaRPr lang="en-US" sz="17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Algerian" panose="04020705040A02060702" pitchFamily="82" charset="0"/>
              </a:rPr>
              <a:t>• Compared average speed of top 5 and bottom 5 agents  </a:t>
            </a:r>
          </a:p>
          <a:p>
            <a:endParaRPr lang="en-US" sz="17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Algerian" panose="04020705040A02060702" pitchFamily="82" charset="0"/>
              </a:rPr>
              <a:t>• Low-performing agents require training and workload balancing  </a:t>
            </a:r>
          </a:p>
          <a:p>
            <a:endParaRPr lang="en-US" sz="1700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sz="1700" dirty="0">
                <a:solidFill>
                  <a:schemeClr val="bg1"/>
                </a:solidFill>
                <a:latin typeface="Algerian" panose="04020705040A02060702" pitchFamily="82" charset="0"/>
              </a:rPr>
              <a:t>• High-performing agents can be assigned critical delivery routes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15A7D07-9835-9DA2-58A5-DF86980BC736}"/>
              </a:ext>
            </a:extLst>
          </p:cNvPr>
          <p:cNvSpPr txBox="1"/>
          <p:nvPr/>
        </p:nvSpPr>
        <p:spPr>
          <a:xfrm>
            <a:off x="838200" y="953729"/>
            <a:ext cx="4578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Agent performance analysis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1.Agent Ranking</a:t>
            </a:r>
            <a:r>
              <a:rPr lang="en-US" dirty="0">
                <a:latin typeface="Algerian" panose="04020705040A02060702" pitchFamily="82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A3E06-DD59-4E1A-E050-EBC303113324}"/>
              </a:ext>
            </a:extLst>
          </p:cNvPr>
          <p:cNvSpPr txBox="1"/>
          <p:nvPr/>
        </p:nvSpPr>
        <p:spPr>
          <a:xfrm>
            <a:off x="838200" y="3755462"/>
            <a:ext cx="4578499" cy="383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2.Agent&lt;80%.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BFD707-66DB-105E-32C5-E8572FD6B09F}"/>
              </a:ext>
            </a:extLst>
          </p:cNvPr>
          <p:cNvSpPr txBox="1"/>
          <p:nvPr/>
        </p:nvSpPr>
        <p:spPr>
          <a:xfrm>
            <a:off x="6548284" y="5357436"/>
            <a:ext cx="4697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Improvement Required: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Improving agent performance can significantly enhance overall delivery efficiency.</a:t>
            </a:r>
          </a:p>
        </p:txBody>
      </p:sp>
    </p:spTree>
    <p:extLst>
      <p:ext uri="{BB962C8B-B14F-4D97-AF65-F5344CB8AC3E}">
        <p14:creationId xmlns:p14="http://schemas.microsoft.com/office/powerpoint/2010/main" val="227681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28445-3E78-BEB1-3070-FD370B6EE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6970"/>
            <a:ext cx="10515600" cy="1025135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Task 6:Shipment Tracking Analytics.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12C4BA6-AA9D-B7CA-C9F7-8580B46F8CB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12450"/>
            <a:ext cx="4419548" cy="2032071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D99F65A-C5C2-53C8-197E-54F698491C8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68129"/>
            <a:ext cx="4419548" cy="196645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60EB671-2CC1-3286-1FFD-9623B10FED3B}"/>
              </a:ext>
            </a:extLst>
          </p:cNvPr>
          <p:cNvSpPr txBox="1"/>
          <p:nvPr/>
        </p:nvSpPr>
        <p:spPr>
          <a:xfrm>
            <a:off x="838200" y="1013208"/>
            <a:ext cx="45007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Shipment Tracking Results: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1.Last checkpoint + time.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F6990E-1327-DBF9-6CF6-92EAD7F72A7E}"/>
              </a:ext>
            </a:extLst>
          </p:cNvPr>
          <p:cNvSpPr txBox="1"/>
          <p:nvPr/>
        </p:nvSpPr>
        <p:spPr>
          <a:xfrm>
            <a:off x="838200" y="3834581"/>
            <a:ext cx="4419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2.Delay Reasons.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E22EDC-C19C-47BA-B35F-470596FC3204}"/>
              </a:ext>
            </a:extLst>
          </p:cNvPr>
          <p:cNvSpPr txBox="1"/>
          <p:nvPr/>
        </p:nvSpPr>
        <p:spPr>
          <a:xfrm>
            <a:off x="6459794" y="1336373"/>
            <a:ext cx="489400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Key findings &amp; insights: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Retrieved the last checkpoint and corresponding time for each order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Identified the most common delay reasons excluding 'None'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Delay reasons such as traffic and operational issues were observed frequently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Tracking checkpoints helps identify delays and improve delivery efficiency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565976C-4CB2-9780-2ED6-37046B6EE3B6}"/>
              </a:ext>
            </a:extLst>
          </p:cNvPr>
          <p:cNvSpPr txBox="1"/>
          <p:nvPr/>
        </p:nvSpPr>
        <p:spPr>
          <a:xfrm>
            <a:off x="6459794" y="5301367"/>
            <a:ext cx="48940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Impact: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Understanding delay patterns helps optimize shipment tracking and reduce delays.</a:t>
            </a:r>
          </a:p>
        </p:txBody>
      </p:sp>
    </p:spTree>
    <p:extLst>
      <p:ext uri="{BB962C8B-B14F-4D97-AF65-F5344CB8AC3E}">
        <p14:creationId xmlns:p14="http://schemas.microsoft.com/office/powerpoint/2010/main" val="1895770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F3D3B-940C-5BF5-5907-5BAC66CCF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98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Task 7:Advanced KPI Reporting.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C0A0619-DA21-4391-151B-C180277BC45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08" y="4185368"/>
            <a:ext cx="4371202" cy="2270594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FFDC701-9235-C5D4-E247-3A9D6A1F59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908" y="1589652"/>
            <a:ext cx="4319036" cy="22705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701F7A-9AF0-5508-50EE-2C7CBFC0EEAF}"/>
              </a:ext>
            </a:extLst>
          </p:cNvPr>
          <p:cNvSpPr txBox="1"/>
          <p:nvPr/>
        </p:nvSpPr>
        <p:spPr>
          <a:xfrm>
            <a:off x="721908" y="973393"/>
            <a:ext cx="4319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KPI Results: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1.Average delay per region.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6968C-3BFA-2B89-0062-557CE4DD116D}"/>
              </a:ext>
            </a:extLst>
          </p:cNvPr>
          <p:cNvSpPr txBox="1"/>
          <p:nvPr/>
        </p:nvSpPr>
        <p:spPr>
          <a:xfrm>
            <a:off x="721908" y="3816036"/>
            <a:ext cx="4371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2.on-time delivery%.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AFAC4C-201A-6A5F-E8DC-100B669D3EBA}"/>
              </a:ext>
            </a:extLst>
          </p:cNvPr>
          <p:cNvSpPr txBox="1"/>
          <p:nvPr/>
        </p:nvSpPr>
        <p:spPr>
          <a:xfrm>
            <a:off x="6351638" y="1296559"/>
            <a:ext cx="5002161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lgerian" panose="04020705040A02060702" pitchFamily="82" charset="0"/>
              </a:rPr>
              <a:t>Key metrics &amp; insights:</a:t>
            </a: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Calculated average delivery delay across different regions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Computed overall on-time delivery percentage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Identified variations in delivery performance across regions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On-time delivery rate reflects overall efficiency of logistics system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KPI analysis helps in improving delivery performance and planning</a:t>
            </a:r>
          </a:p>
        </p:txBody>
      </p:sp>
    </p:spTree>
    <p:extLst>
      <p:ext uri="{BB962C8B-B14F-4D97-AF65-F5344CB8AC3E}">
        <p14:creationId xmlns:p14="http://schemas.microsoft.com/office/powerpoint/2010/main" val="2670844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AEEB1-67A3-2A73-A801-EF43663DD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8C2DDC-DBF5-1FC0-75A1-A5139EC8C50E}"/>
              </a:ext>
            </a:extLst>
          </p:cNvPr>
          <p:cNvSpPr txBox="1"/>
          <p:nvPr/>
        </p:nvSpPr>
        <p:spPr>
          <a:xfrm>
            <a:off x="648929" y="1827494"/>
            <a:ext cx="1087447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Data cleaning ensured accuracy and reliability of the dataset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Key factors causing delivery delays were identified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Inefficient routes and bottleneck warehouses were detected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Agent performance and shipment tracking issues were analyzed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KPI analysis provided clear insights into overall logistics performance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Suggested improvements can optimize delivery operations and reduce delays  </a:t>
            </a:r>
          </a:p>
          <a:p>
            <a:endParaRPr lang="en-US" dirty="0">
              <a:solidFill>
                <a:schemeClr val="bg1"/>
              </a:solidFill>
              <a:latin typeface="Algerian" panose="04020705040A02060702" pitchFamily="82" charset="0"/>
            </a:endParaRPr>
          </a:p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• SQL-based analysis enables better decision-making in logistics management</a:t>
            </a:r>
          </a:p>
        </p:txBody>
      </p:sp>
    </p:spTree>
    <p:extLst>
      <p:ext uri="{BB962C8B-B14F-4D97-AF65-F5344CB8AC3E}">
        <p14:creationId xmlns:p14="http://schemas.microsoft.com/office/powerpoint/2010/main" val="1999158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BD92-B7DF-B1BF-8CD2-FAF52A96D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77616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Project Video Link:</a:t>
            </a:r>
            <a:endParaRPr lang="en-IN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EEE2B-732C-B756-4405-09E3BA676BB9}"/>
              </a:ext>
            </a:extLst>
          </p:cNvPr>
          <p:cNvSpPr txBox="1"/>
          <p:nvPr/>
        </p:nvSpPr>
        <p:spPr>
          <a:xfrm>
            <a:off x="1818968" y="3429000"/>
            <a:ext cx="8554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https://drive.google.com/file/d/1God0TMB_ol6FVlljtoHs-BJnU4Aeg-9Z/view?usp=sharing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36295D-2868-BB47-4AA9-59844E17CE08}"/>
              </a:ext>
            </a:extLst>
          </p:cNvPr>
          <p:cNvSpPr txBox="1"/>
          <p:nvPr/>
        </p:nvSpPr>
        <p:spPr>
          <a:xfrm>
            <a:off x="3888658" y="2996758"/>
            <a:ext cx="4414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lgerian" panose="04020705040A02060702" pitchFamily="82" charset="0"/>
              </a:rPr>
              <a:t>Ctrl + Click on link to watch video</a:t>
            </a:r>
          </a:p>
        </p:txBody>
      </p:sp>
    </p:spTree>
    <p:extLst>
      <p:ext uri="{BB962C8B-B14F-4D97-AF65-F5344CB8AC3E}">
        <p14:creationId xmlns:p14="http://schemas.microsoft.com/office/powerpoint/2010/main" val="20021899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710</Words>
  <Application>Microsoft Office PowerPoint</Application>
  <PresentationFormat>Widescreen</PresentationFormat>
  <Paragraphs>136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Algerian</vt:lpstr>
      <vt:lpstr>Arial</vt:lpstr>
      <vt:lpstr>Calibri</vt:lpstr>
      <vt:lpstr>Calibri Light</vt:lpstr>
      <vt:lpstr>Office Theme</vt:lpstr>
      <vt:lpstr>Logistics Optimization for Delivery Routes</vt:lpstr>
      <vt:lpstr>Project objective:</vt:lpstr>
      <vt:lpstr>Dataset overview:</vt:lpstr>
      <vt:lpstr>Task1:Data cleaning &amp; preparation:</vt:lpstr>
      <vt:lpstr>Task2:Delivery Delay Analysis:</vt:lpstr>
      <vt:lpstr>PowerPoint Presentation</vt:lpstr>
      <vt:lpstr>Task 3:Route Optimization insights.</vt:lpstr>
      <vt:lpstr>Task 4:Warehouse performance.</vt:lpstr>
      <vt:lpstr>Task 5:Delivery Agent Performance.</vt:lpstr>
      <vt:lpstr>Task 6:Shipment Tracking Analytics.</vt:lpstr>
      <vt:lpstr>Task 7:Advanced KPI Reporting.</vt:lpstr>
      <vt:lpstr>Conclusion</vt:lpstr>
      <vt:lpstr>Project Video Link: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shreyash waghmode</dc:creator>
  <cp:lastModifiedBy>Pratik Lad</cp:lastModifiedBy>
  <cp:revision>3</cp:revision>
  <dcterms:created xsi:type="dcterms:W3CDTF">2026-03-31T11:39:37Z</dcterms:created>
  <dcterms:modified xsi:type="dcterms:W3CDTF">2026-04-01T10:30:11Z</dcterms:modified>
</cp:coreProperties>
</file>